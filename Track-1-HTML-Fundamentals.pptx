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Corben"/>
      <p:regular r:id="rId201314"/>
    </p:embeddedFont>
    <p:embeddedFont>
      <p:font typeface="Corben Bold"/>
      <p:regular r:id="rId201315"/>
    </p:embeddedFont>
    <p:embeddedFont>
      <p:font typeface="Nobile"/>
      <p:regular r:id="rId201316"/>
    </p:embeddedFont>
    <p:embeddedFont>
      <p:font typeface="Nobi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5.png"/><Relationship Id="rId8" Type="http://schemas.openxmlformats.org/officeDocument/2006/relationships/image" Target="../media/image-7-6.sv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7.png"/><Relationship Id="rId10" Type="http://schemas.openxmlformats.org/officeDocument/2006/relationships/image" Target="../media/image-10-8.svg"/><Relationship Id="rId11" Type="http://schemas.openxmlformats.org/officeDocument/2006/relationships/image" Target="../media/image-10-7.png"/><Relationship Id="rId12" Type="http://schemas.openxmlformats.org/officeDocument/2006/relationships/image" Target="../media/image-10-8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74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Track 1: HTML Fundamentals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73721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Building the Structure of the Web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231159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Objective: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Learn how to structure web pages using HTML and build a complete personal profile website.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2897485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By the end of this track, students will be able to: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61475" y="3635772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7" name="Text 5"/>
          <p:cNvSpPr/>
          <p:nvPr/>
        </p:nvSpPr>
        <p:spPr>
          <a:xfrm>
            <a:off x="944936" y="3535363"/>
            <a:ext cx="5032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Explain how the Web works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213915" y="3635772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6497376" y="3535363"/>
            <a:ext cx="50328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Create a properly structured HTML document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61475" y="4309070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11" name="Text 9"/>
          <p:cNvSpPr/>
          <p:nvPr/>
        </p:nvSpPr>
        <p:spPr>
          <a:xfrm>
            <a:off x="944936" y="4208661"/>
            <a:ext cx="5032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Add text, links, images and lists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213915" y="4309070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6497376" y="4208661"/>
            <a:ext cx="50328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Create tables and forms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661475" y="4982369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15" name="Text 13"/>
          <p:cNvSpPr/>
          <p:nvPr/>
        </p:nvSpPr>
        <p:spPr>
          <a:xfrm>
            <a:off x="944936" y="4881959"/>
            <a:ext cx="5032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Use semantic HTML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6213915" y="4982369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6497376" y="4881959"/>
            <a:ext cx="50328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Apply basic accessibility principles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661475" y="5655667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19" name="Text 17"/>
          <p:cNvSpPr/>
          <p:nvPr/>
        </p:nvSpPr>
        <p:spPr>
          <a:xfrm>
            <a:off x="944936" y="5555258"/>
            <a:ext cx="5032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Follow HTML best practices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6213915" y="5655667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21" name="Text 19"/>
          <p:cNvSpPr/>
          <p:nvPr/>
        </p:nvSpPr>
        <p:spPr>
          <a:xfrm>
            <a:off x="6497376" y="5555258"/>
            <a:ext cx="50328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Build a multi-page personal profile website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638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Slide 1 — Introduction to the Web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538149" y="1296690"/>
            <a:ext cx="5810601" cy="3965575"/>
          </a:xfrm>
          <a:prstGeom prst="roundRect">
            <a:avLst>
              <a:gd name="adj" fmla="val 3110"/>
            </a:avLst>
          </a:prstGeom>
          <a:solidFill>
            <a:srgbClr val="F2F2F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9396" y="1451868"/>
            <a:ext cx="5468106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is the Web?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9396" y="1928217"/>
            <a:ext cx="5468106" cy="118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World Wide Web (WWW)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is a system of interconnected resources that can be accessed over the Internet using web browsers.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Internet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9396" y="3252589"/>
            <a:ext cx="5468106" cy="576759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global network connecting computers and devices.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Provides the infrastructure for communication.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9396" y="3969048"/>
            <a:ext cx="6077691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Web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9396" y="4369991"/>
            <a:ext cx="5468106" cy="838002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service that runs on the Internet.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Allows us to access websites and web resources through browsers.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49673" y="1451868"/>
            <a:ext cx="4886798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terms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49673" y="1928217"/>
            <a:ext cx="4886798" cy="1523305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Browser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Chrome, Firefox, Edge, Safari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Client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Usually the user's browser/device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Server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Provides web resources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URL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Address of a resource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HTTP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Communication protocol used by the Web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6544" y="3765848"/>
            <a:ext cx="4629927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"What happens after you type a website address into your browser and press Enter?"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49673" y="3626148"/>
            <a:ext cx="19050" cy="801886"/>
          </a:xfrm>
          <a:prstGeom prst="roundRect">
            <a:avLst>
              <a:gd name="adj" fmla="val 49999"/>
            </a:avLst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6649673" y="4602659"/>
            <a:ext cx="5496383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their answers to introduce the client-server model.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1475" y="5495032"/>
            <a:ext cx="10868745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basic Web ecosystem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1475" y="6048970"/>
            <a:ext cx="11478330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 → BROWSER → HTTP REQUEST → SERVER → HTTP RESPONSE → BROWSER → WEB PAGE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295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Slide 2 — HTML Document 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209873"/>
            <a:ext cx="5489239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is HTML?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661475" y="1658739"/>
            <a:ext cx="5489239" cy="76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HTML = HyperText Markup Language</a:t>
            </a:r>
            <a:endParaRPr lang="en-US" sz="1050" dirty="0"/>
          </a:p>
          <a:p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HTML is a </a:t>
            </a:r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markup language</a:t>
            </a:r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used to structure the content of web pages.</a:t>
            </a:r>
            <a:endParaRPr lang="en-US" sz="10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Think of a website as a house: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1475" y="2511524"/>
            <a:ext cx="5489239" cy="648990"/>
          </a:xfrm>
          <a:prstGeom prst="rect">
            <a:avLst/>
          </a:prstGeom>
          <a:noFill/>
          <a:ln/>
        </p:spPr>
        <p:txBody>
          <a:bodyPr wrap="square" lIns="0" tIns="55524" rIns="0" bIns="0" rtlCol="0" anchor="t">
            <a:normAutofit/>
          </a:bodyPr>
          <a:lstStyle/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HTML = Structure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CSS = Appearance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JavaScript = Behavior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1475" y="3262412"/>
            <a:ext cx="5489239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Basic HTML document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661475" y="3723977"/>
            <a:ext cx="5489239" cy="2498130"/>
          </a:xfrm>
          <a:prstGeom prst="roundRect">
            <a:avLst>
              <a:gd name="adj" fmla="val 2334"/>
            </a:avLst>
          </a:prstGeom>
          <a:solidFill>
            <a:srgbClr val="ECECF2"/>
          </a:solidFill>
          <a:ln/>
        </p:spPr>
      </p:sp>
      <p:sp>
        <p:nvSpPr>
          <p:cNvPr id="8" name="Text 6"/>
          <p:cNvSpPr/>
          <p:nvPr/>
        </p:nvSpPr>
        <p:spPr>
          <a:xfrm>
            <a:off x="827960" y="3862784"/>
            <a:ext cx="5156269" cy="222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&lt;title&gt;My Profile&lt;/title&gt;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&lt;h1&gt;Welcome to My Website&lt;/h1&gt;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&lt;p&gt;This is my personal profile.&lt;/p&gt;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5590" y="1209873"/>
            <a:ext cx="5040881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Understand the structure</a:t>
            </a:r>
            <a:endParaRPr lang="en-US" sz="2150" dirty="0"/>
          </a:p>
        </p:txBody>
      </p:sp>
      <p:sp>
        <p:nvSpPr>
          <p:cNvPr id="10" name="Shape 8"/>
          <p:cNvSpPr/>
          <p:nvPr/>
        </p:nvSpPr>
        <p:spPr>
          <a:xfrm>
            <a:off x="6495590" y="1671439"/>
            <a:ext cx="5040881" cy="2432844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5590" y="2008485"/>
            <a:ext cx="5040881" cy="86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95590" y="2534940"/>
            <a:ext cx="5040881" cy="86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95590" y="2881511"/>
            <a:ext cx="5040881" cy="86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5590" y="3407966"/>
            <a:ext cx="5040881" cy="86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95590" y="3754537"/>
            <a:ext cx="5040881" cy="86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016080" y="1671439"/>
            <a:ext cx="8676" cy="24328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40842" y="1745258"/>
            <a:ext cx="284284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Element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58058" y="1745258"/>
            <a:ext cx="284284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Purpose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40842" y="2079129"/>
            <a:ext cx="2842844" cy="20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58058" y="2079129"/>
            <a:ext cx="2233259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Declares the HTML document type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40842" y="2605584"/>
            <a:ext cx="2842844" cy="20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58058" y="2605584"/>
            <a:ext cx="284284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Root of the document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40842" y="2952155"/>
            <a:ext cx="2842844" cy="20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58058" y="2952155"/>
            <a:ext cx="2233259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Metadata and document information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40842" y="3478609"/>
            <a:ext cx="2842844" cy="20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58058" y="3478609"/>
            <a:ext cx="284284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Browser tab title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40842" y="3825180"/>
            <a:ext cx="2842844" cy="20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58058" y="3825180"/>
            <a:ext cx="284284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Visible page content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353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Slide 3 — Text, Links, Images &amp; Lists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927199"/>
            <a:ext cx="10868745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Building Content with HTML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1390551"/>
            <a:ext cx="58512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1. Headings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1676598"/>
            <a:ext cx="646086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HTML provides six heading levels: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1475" y="1903710"/>
            <a:ext cx="5851279" cy="782935"/>
          </a:xfrm>
          <a:prstGeom prst="roundRect">
            <a:avLst>
              <a:gd name="adj" fmla="val 6179"/>
            </a:avLst>
          </a:prstGeom>
          <a:solidFill>
            <a:srgbClr val="ECECF2"/>
          </a:solidFill>
          <a:ln/>
        </p:spPr>
      </p:sp>
      <p:sp>
        <p:nvSpPr>
          <p:cNvPr id="7" name="Text 5"/>
          <p:cNvSpPr/>
          <p:nvPr/>
        </p:nvSpPr>
        <p:spPr>
          <a:xfrm>
            <a:off x="799683" y="2018804"/>
            <a:ext cx="5574863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&lt;h1&gt;Main Heading&lt;/h1&gt;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&lt;h2&gt;Section Heading&lt;/h2&gt;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&lt;h3&gt;Subsection&lt;/h3&gt;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1475" y="2765524"/>
            <a:ext cx="646086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headings to create a meaningful content hierarchy.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1475" y="2983905"/>
            <a:ext cx="58512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2. Paragraphs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1475" y="3278684"/>
            <a:ext cx="5851279" cy="782935"/>
          </a:xfrm>
          <a:prstGeom prst="roundRect">
            <a:avLst>
              <a:gd name="adj" fmla="val 6179"/>
            </a:avLst>
          </a:prstGeom>
          <a:solidFill>
            <a:srgbClr val="ECECF2"/>
          </a:solidFill>
          <a:ln/>
        </p:spPr>
      </p:sp>
      <p:sp>
        <p:nvSpPr>
          <p:cNvPr id="11" name="Text 9"/>
          <p:cNvSpPr/>
          <p:nvPr/>
        </p:nvSpPr>
        <p:spPr>
          <a:xfrm>
            <a:off x="799683" y="3393777"/>
            <a:ext cx="5574863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am a beginner web developer learning HTML.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1475" y="4140498"/>
            <a:ext cx="58512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3. Links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1475" y="4435277"/>
            <a:ext cx="5851279" cy="414437"/>
          </a:xfrm>
          <a:prstGeom prst="roundRect">
            <a:avLst>
              <a:gd name="adj" fmla="val 11673"/>
            </a:avLst>
          </a:prstGeom>
          <a:solidFill>
            <a:srgbClr val="ECECF2"/>
          </a:solidFill>
          <a:ln/>
        </p:spPr>
      </p:sp>
      <p:sp>
        <p:nvSpPr>
          <p:cNvPr id="14" name="Text 12"/>
          <p:cNvSpPr/>
          <p:nvPr/>
        </p:nvSpPr>
        <p:spPr>
          <a:xfrm>
            <a:off x="799683" y="4550370"/>
            <a:ext cx="6184448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href="about.html"&gt;About Me&lt;/a&gt;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1475" y="4928592"/>
            <a:ext cx="6460864" cy="160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attribute tells the browser where the link should go.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1475" y="5159673"/>
            <a:ext cx="58512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4. Images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1475" y="5454452"/>
            <a:ext cx="5851279" cy="414437"/>
          </a:xfrm>
          <a:prstGeom prst="roundRect">
            <a:avLst>
              <a:gd name="adj" fmla="val 11673"/>
            </a:avLst>
          </a:prstGeom>
          <a:solidFill>
            <a:srgbClr val="ECECF2"/>
          </a:solidFill>
          <a:ln/>
        </p:spPr>
      </p:sp>
      <p:sp>
        <p:nvSpPr>
          <p:cNvPr id="18" name="Text 16"/>
          <p:cNvSpPr/>
          <p:nvPr/>
        </p:nvSpPr>
        <p:spPr>
          <a:xfrm>
            <a:off x="799683" y="5569545"/>
            <a:ext cx="6184448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src="profile.jpg" alt="A photo of John"&gt;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1475" y="5947767"/>
            <a:ext cx="5851279" cy="34637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→ location of the image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→ alternative text describing the image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00085" y="1390551"/>
            <a:ext cx="473638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5. Lists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00085" y="1676598"/>
            <a:ext cx="534597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Unordered list: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00085" y="1903710"/>
            <a:ext cx="4736386" cy="1151434"/>
          </a:xfrm>
          <a:prstGeom prst="roundRect">
            <a:avLst>
              <a:gd name="adj" fmla="val 4201"/>
            </a:avLst>
          </a:prstGeom>
          <a:solidFill>
            <a:srgbClr val="ECECF2"/>
          </a:solidFill>
          <a:ln/>
        </p:spPr>
      </p:sp>
      <p:sp>
        <p:nvSpPr>
          <p:cNvPr id="23" name="Text 21"/>
          <p:cNvSpPr/>
          <p:nvPr/>
        </p:nvSpPr>
        <p:spPr>
          <a:xfrm>
            <a:off x="6938293" y="2018804"/>
            <a:ext cx="4459970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&lt;li&gt;HTML&lt;/li&gt;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&lt;li&gt;CSS&lt;/li&gt;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&lt;li&gt;JavaScript&lt;/li&gt;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00085" y="3134023"/>
            <a:ext cx="534597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Ordered list: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00085" y="3361134"/>
            <a:ext cx="4736386" cy="1151434"/>
          </a:xfrm>
          <a:prstGeom prst="roundRect">
            <a:avLst>
              <a:gd name="adj" fmla="val 4201"/>
            </a:avLst>
          </a:prstGeom>
          <a:solidFill>
            <a:srgbClr val="ECECF2"/>
          </a:solidFill>
          <a:ln/>
        </p:spPr>
      </p:sp>
      <p:sp>
        <p:nvSpPr>
          <p:cNvPr id="26" name="Text 24"/>
          <p:cNvSpPr/>
          <p:nvPr/>
        </p:nvSpPr>
        <p:spPr>
          <a:xfrm>
            <a:off x="6938293" y="3476228"/>
            <a:ext cx="4459970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&lt;li&gt;Learn HTML&lt;/li&gt;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&lt;li&gt;Learn CSS&lt;/li&gt;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&lt;li&gt;Build a website&lt;/li&gt;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00085" y="4591447"/>
            <a:ext cx="473638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Mini Challenge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00085" y="4877495"/>
            <a:ext cx="534597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Ask students to create: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72820" y="5167709"/>
            <a:ext cx="4563651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"About Me"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containing a heading, paragraph, profile image, list of hobbies and a link.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00085" y="5104606"/>
            <a:ext cx="12700" cy="422672"/>
          </a:xfrm>
          <a:prstGeom prst="roundRect">
            <a:avLst>
              <a:gd name="adj" fmla="val 49999"/>
            </a:avLst>
          </a:prstGeom>
          <a:solidFill>
            <a:srgbClr val="4967E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7297"/>
            <a:ext cx="10868745" cy="350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Slide 4 — Tables and Forms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974626"/>
            <a:ext cx="10868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Organizing Data &amp; Collecting Information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1421606"/>
            <a:ext cx="4405996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HTML Tables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1698625"/>
            <a:ext cx="5015581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Tables are useful for </a:t>
            </a:r>
            <a:pPr algn="l" indent="0" marL="0"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tabular data</a:t>
            </a:r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61475" y="1916609"/>
            <a:ext cx="4405996" cy="3275707"/>
          </a:xfrm>
          <a:prstGeom prst="roundRect">
            <a:avLst>
              <a:gd name="adj" fmla="val 1439"/>
            </a:avLst>
          </a:prstGeom>
          <a:solidFill>
            <a:srgbClr val="ECECF2"/>
          </a:solidFill>
          <a:ln/>
        </p:spPr>
      </p:sp>
      <p:sp>
        <p:nvSpPr>
          <p:cNvPr id="7" name="Text 5"/>
          <p:cNvSpPr/>
          <p:nvPr/>
        </p:nvSpPr>
        <p:spPr>
          <a:xfrm>
            <a:off x="796111" y="2028825"/>
            <a:ext cx="4136723" cy="3051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&lt;th&gt;Name&lt;/th&gt;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&lt;th&gt;Course&lt;/th&gt;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&lt;th&gt;Score&lt;/th&gt;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&lt;td&gt;John&lt;/td&gt;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&lt;td&gt;HTML&lt;/td&gt;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&lt;td&gt;85&lt;/td&gt;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&lt;td&gt;Mary&lt;/td&gt;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&lt;td&gt;HTML&lt;/td&gt;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&lt;td&gt;90&lt;/td&gt;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1475" y="5267226"/>
            <a:ext cx="4405996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Important table elements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5544245"/>
            <a:ext cx="4405996" cy="693043"/>
          </a:xfrm>
          <a:prstGeom prst="rect">
            <a:avLst/>
          </a:prstGeom>
          <a:noFill/>
          <a:ln/>
        </p:spPr>
        <p:txBody>
          <a:bodyPr wrap="square" lIns="0" tIns="44892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Table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Table row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Header cell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Data cell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47658" y="1421606"/>
            <a:ext cx="6188813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Forms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7658" y="1698625"/>
            <a:ext cx="6798398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Forms allow users to submit information.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47658" y="1916609"/>
            <a:ext cx="6188813" cy="1480840"/>
          </a:xfrm>
          <a:prstGeom prst="roundRect">
            <a:avLst>
              <a:gd name="adj" fmla="val 3183"/>
            </a:avLst>
          </a:prstGeom>
          <a:solidFill>
            <a:srgbClr val="EC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2294" y="2028825"/>
            <a:ext cx="5919540" cy="1256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for="name"&gt;Name:&lt;/label&gt;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id="name" name="name"&gt;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for="email"&gt;Email:&lt;/label&gt;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type="email" id="email" name="email"&gt;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type="submit"&gt;Send&lt;/button&gt;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47658" y="3472359"/>
            <a:ext cx="6188813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Common form elements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7658" y="3749377"/>
            <a:ext cx="6188813" cy="1141413"/>
          </a:xfrm>
          <a:prstGeom prst="rect">
            <a:avLst/>
          </a:prstGeom>
          <a:noFill/>
          <a:ln/>
        </p:spPr>
        <p:txBody>
          <a:bodyPr wrap="square" lIns="0" tIns="44892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form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label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input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textarea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select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option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button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47658" y="4957366"/>
            <a:ext cx="6188813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concept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7658" y="5234384"/>
            <a:ext cx="6188813" cy="309463"/>
          </a:xfrm>
          <a:prstGeom prst="rect">
            <a:avLst/>
          </a:prstGeom>
          <a:noFill/>
          <a:ln/>
        </p:spPr>
        <p:txBody>
          <a:bodyPr wrap="square" lIns="0" tIns="44892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Tables display data.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Forms collect user input.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Slide 5 — Semantic HTML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Give Your Content Meaning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14101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Semantic HTML means using HTML elements according to their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meaning and purpose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rather than using generic containers for everything.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1325265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Common semantic elements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1475" y="1573312"/>
            <a:ext cx="10868745" cy="1247378"/>
          </a:xfrm>
          <a:prstGeom prst="roundRect">
            <a:avLst>
              <a:gd name="adj" fmla="val 3182"/>
            </a:avLst>
          </a:prstGeom>
          <a:solidFill>
            <a:srgbClr val="ECECF2"/>
          </a:solidFill>
          <a:ln/>
        </p:spPr>
      </p:sp>
      <p:sp>
        <p:nvSpPr>
          <p:cNvPr id="7" name="Text 5"/>
          <p:cNvSpPr/>
          <p:nvPr/>
        </p:nvSpPr>
        <p:spPr>
          <a:xfrm>
            <a:off x="774879" y="1667768"/>
            <a:ext cx="1064193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61475" y="2891532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1475" y="3139579"/>
            <a:ext cx="10868745" cy="3364309"/>
          </a:xfrm>
          <a:prstGeom prst="roundRect">
            <a:avLst>
              <a:gd name="adj" fmla="val 1180"/>
            </a:avLst>
          </a:prstGeom>
          <a:solidFill>
            <a:srgbClr val="ECECF2"/>
          </a:solidFill>
          <a:ln/>
        </p:spPr>
      </p:sp>
      <p:sp>
        <p:nvSpPr>
          <p:cNvPr id="10" name="Text 8"/>
          <p:cNvSpPr/>
          <p:nvPr/>
        </p:nvSpPr>
        <p:spPr>
          <a:xfrm>
            <a:off x="774879" y="3234035"/>
            <a:ext cx="10641937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&lt;h1&gt;John's Profile&lt;/h1&gt;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&lt;a href="index.html"&gt;Home&lt;/a&gt;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&lt;a href="about.html"&gt;About&lt;/a&gt;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&lt;a href="contact.html"&gt;Contact&lt;/a&gt;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&lt;section&gt;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&lt;h2&gt;About Me&lt;/h2&gt;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&lt;p&gt;I am a web development student.&lt;/p&gt;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&lt;/section&gt;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&lt;section&gt;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&lt;h2&gt;My Skills&lt;/h2&gt;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&lt;p&gt;HTML, CSS and JavaScript.&lt;/p&gt;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&lt;/section&gt;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&lt;p&gt;© 2026 John&lt;/p&gt;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&lt;/footer&gt;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918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Slide 6 — Accessibility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98057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Build Websites Everyone Can Use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1386582"/>
            <a:ext cx="10868745" cy="390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50"/>
              </a:spcAft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Accessibility means designing websites that can be used by people with different abilities and assistive technologies.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Semantic HTML helps assistive technologies understand the structure of your page.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59855"/>
            <a:ext cx="5397464" cy="1972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3041" y="1990626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1. Use meaningful headings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3041" y="2256334"/>
            <a:ext cx="508513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Good: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43041" y="2492970"/>
            <a:ext cx="5085131" cy="803176"/>
          </a:xfrm>
          <a:prstGeom prst="roundRect">
            <a:avLst>
              <a:gd name="adj" fmla="val 6178"/>
            </a:avLst>
          </a:prstGeom>
          <a:solidFill>
            <a:srgbClr val="ECECF2"/>
          </a:solidFill>
          <a:ln/>
        </p:spPr>
      </p:sp>
      <p:sp>
        <p:nvSpPr>
          <p:cNvPr id="9" name="Text 6"/>
          <p:cNvSpPr/>
          <p:nvPr/>
        </p:nvSpPr>
        <p:spPr>
          <a:xfrm>
            <a:off x="984721" y="2611041"/>
            <a:ext cx="4801770" cy="567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&lt;h1&gt;My Profile&lt;/h1&gt;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&lt;h2&gt;About Me&lt;/h2&gt;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&lt;h2&gt;My Skills&lt;/h2&gt;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43041" y="3379192"/>
            <a:ext cx="508513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Avoid choosing headings simply because they look bigger or smaller.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2756" y="1859855"/>
            <a:ext cx="5397464" cy="19726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14322" y="1990626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2. Give images alternative text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14322" y="2295128"/>
            <a:ext cx="5085131" cy="425152"/>
          </a:xfrm>
          <a:prstGeom prst="roundRect">
            <a:avLst>
              <a:gd name="adj" fmla="val 11671"/>
            </a:avLst>
          </a:prstGeom>
          <a:solidFill>
            <a:srgbClr val="ECECF2"/>
          </a:solidFill>
          <a:ln/>
        </p:spPr>
      </p:sp>
      <p:sp>
        <p:nvSpPr>
          <p:cNvPr id="14" name="Text 10"/>
          <p:cNvSpPr/>
          <p:nvPr/>
        </p:nvSpPr>
        <p:spPr>
          <a:xfrm>
            <a:off x="6456003" y="2413198"/>
            <a:ext cx="480177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src="profile.jpg" alt="Portrait of John"&gt;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314322" y="2803327"/>
            <a:ext cx="508513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Don't use: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314322" y="3039963"/>
            <a:ext cx="5085131" cy="425152"/>
          </a:xfrm>
          <a:prstGeom prst="roundRect">
            <a:avLst>
              <a:gd name="adj" fmla="val 11671"/>
            </a:avLst>
          </a:prstGeom>
          <a:solidFill>
            <a:srgbClr val="ECECF2"/>
          </a:solidFill>
          <a:ln/>
        </p:spPr>
      </p:sp>
      <p:sp>
        <p:nvSpPr>
          <p:cNvPr id="17" name="Text 13"/>
          <p:cNvSpPr/>
          <p:nvPr/>
        </p:nvSpPr>
        <p:spPr>
          <a:xfrm>
            <a:off x="6456003" y="3158034"/>
            <a:ext cx="480177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src="profile.jpg" alt="image"&gt;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314322" y="3548162"/>
            <a:ext cx="508513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when you can provide a meaningful description.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06341"/>
            <a:ext cx="5397464" cy="19338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3041" y="4037112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3. Label form fields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43041" y="4302820"/>
            <a:ext cx="508513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Good: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43041" y="4539456"/>
            <a:ext cx="5085131" cy="992188"/>
          </a:xfrm>
          <a:prstGeom prst="roundRect">
            <a:avLst>
              <a:gd name="adj" fmla="val 5001"/>
            </a:avLst>
          </a:prstGeom>
          <a:solidFill>
            <a:srgbClr val="ECECF2"/>
          </a:solidFill>
          <a:ln/>
        </p:spPr>
      </p:sp>
      <p:sp>
        <p:nvSpPr>
          <p:cNvPr id="23" name="Text 18"/>
          <p:cNvSpPr/>
          <p:nvPr/>
        </p:nvSpPr>
        <p:spPr>
          <a:xfrm>
            <a:off x="984721" y="4657527"/>
            <a:ext cx="4801770" cy="756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for="email"&gt;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Address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&lt;/label&gt;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 id="email"&gt;</a:t>
            </a:r>
            <a:endParaRPr lang="en-US" sz="9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32756" y="3906341"/>
            <a:ext cx="5397464" cy="19338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14322" y="4037112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4. Use meaningful links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314322" y="4302820"/>
            <a:ext cx="508513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Better: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314322" y="4539456"/>
            <a:ext cx="5085131" cy="425152"/>
          </a:xfrm>
          <a:prstGeom prst="roundRect">
            <a:avLst>
              <a:gd name="adj" fmla="val 11671"/>
            </a:avLst>
          </a:prstGeom>
          <a:solidFill>
            <a:srgbClr val="ECECF2"/>
          </a:solidFill>
          <a:ln/>
        </p:spPr>
      </p:sp>
      <p:sp>
        <p:nvSpPr>
          <p:cNvPr id="28" name="Text 22"/>
          <p:cNvSpPr/>
          <p:nvPr/>
        </p:nvSpPr>
        <p:spPr>
          <a:xfrm>
            <a:off x="6456003" y="4657527"/>
            <a:ext cx="480177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href="about.html"&gt;Read about me&lt;/a&gt;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314322" y="5047655"/>
            <a:ext cx="508513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Instead of: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314322" y="5284291"/>
            <a:ext cx="5085131" cy="425152"/>
          </a:xfrm>
          <a:prstGeom prst="roundRect">
            <a:avLst>
              <a:gd name="adj" fmla="val 11671"/>
            </a:avLst>
          </a:prstGeom>
          <a:solidFill>
            <a:srgbClr val="ECECF2"/>
          </a:solidFill>
          <a:ln/>
        </p:spPr>
      </p:sp>
      <p:sp>
        <p:nvSpPr>
          <p:cNvPr id="31" name="Text 25"/>
          <p:cNvSpPr/>
          <p:nvPr/>
        </p:nvSpPr>
        <p:spPr>
          <a:xfrm>
            <a:off x="6456003" y="5402362"/>
            <a:ext cx="480177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href="about.html"&gt;Click here&lt;/a&gt;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61475" y="5923260"/>
            <a:ext cx="10868745" cy="352723"/>
          </a:xfrm>
          <a:prstGeom prst="roundRect">
            <a:avLst>
              <a:gd name="adj" fmla="val 14067"/>
            </a:avLst>
          </a:prstGeom>
          <a:solidFill>
            <a:srgbClr val="D2D9F9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542" y="6031111"/>
            <a:ext cx="147634" cy="11807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45243" y="6026547"/>
            <a:ext cx="109764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Golden rule:</a:t>
            </a:r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Don't just make your website work. Make it usable by as many people as possible.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829"/>
            <a:ext cx="1086874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Slide 7 — HTML Best Practices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934442"/>
            <a:ext cx="10868745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Write Clean, Maintainable HTML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1365448"/>
            <a:ext cx="5189705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1. Use proper document structure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1641376"/>
            <a:ext cx="5189705" cy="1092101"/>
          </a:xfrm>
          <a:prstGeom prst="roundRect">
            <a:avLst>
              <a:gd name="adj" fmla="val 4203"/>
            </a:avLst>
          </a:prstGeom>
          <a:solidFill>
            <a:srgbClr val="ECECF2"/>
          </a:solidFill>
          <a:ln/>
        </p:spPr>
      </p:sp>
      <p:sp>
        <p:nvSpPr>
          <p:cNvPr id="6" name="Text 4"/>
          <p:cNvSpPr/>
          <p:nvPr/>
        </p:nvSpPr>
        <p:spPr>
          <a:xfrm>
            <a:off x="792540" y="1750616"/>
            <a:ext cx="4927576" cy="873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&lt;head&gt;...&lt;/head&gt;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&lt;body&gt;...&lt;/body&gt;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1475" y="2804517"/>
            <a:ext cx="5189705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2. Use lowercase HTML for uniformity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1475" y="3080445"/>
            <a:ext cx="5189705" cy="393204"/>
          </a:xfrm>
          <a:prstGeom prst="roundRect">
            <a:avLst>
              <a:gd name="adj" fmla="val 11672"/>
            </a:avLst>
          </a:prstGeom>
          <a:solidFill>
            <a:srgbClr val="ECECF2"/>
          </a:solidFill>
          <a:ln/>
        </p:spPr>
      </p:sp>
      <p:sp>
        <p:nvSpPr>
          <p:cNvPr id="9" name="Text 7"/>
          <p:cNvSpPr/>
          <p:nvPr/>
        </p:nvSpPr>
        <p:spPr>
          <a:xfrm>
            <a:off x="792540" y="3189684"/>
            <a:ext cx="553716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&lt;h1&gt;My Profile&lt;/h1&gt;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61475" y="3544689"/>
            <a:ext cx="579929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rather than mixing uppercase and lowercase.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1475" y="3745706"/>
            <a:ext cx="5189705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3. Indent your code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1475" y="4013696"/>
            <a:ext cx="579929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Good indentation makes your code easier to read.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1475" y="4222651"/>
            <a:ext cx="5189705" cy="1441549"/>
          </a:xfrm>
          <a:prstGeom prst="roundRect">
            <a:avLst>
              <a:gd name="adj" fmla="val 3184"/>
            </a:avLst>
          </a:prstGeom>
          <a:solidFill>
            <a:srgbClr val="ECECF2"/>
          </a:solidFill>
          <a:ln/>
        </p:spPr>
      </p:sp>
      <p:sp>
        <p:nvSpPr>
          <p:cNvPr id="14" name="Text 12"/>
          <p:cNvSpPr/>
          <p:nvPr/>
        </p:nvSpPr>
        <p:spPr>
          <a:xfrm>
            <a:off x="792540" y="4331891"/>
            <a:ext cx="4927576" cy="122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&lt;h2&gt;My Skills&lt;/h2&gt;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&lt;li&gt;HTML&lt;/li&gt;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&lt;li&gt;CSS&lt;/li&gt;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1475" y="5735241"/>
            <a:ext cx="5189705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4. Use meaningful names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1475" y="6003230"/>
            <a:ext cx="5799290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id="contact-form"</a:t>
            </a:r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is better than </a:t>
            </a:r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id="box1"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24025" y="1365448"/>
            <a:ext cx="5412446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5. Always use alt for images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4025" y="1641376"/>
            <a:ext cx="5412446" cy="393204"/>
          </a:xfrm>
          <a:prstGeom prst="roundRect">
            <a:avLst>
              <a:gd name="adj" fmla="val 11672"/>
            </a:avLst>
          </a:prstGeom>
          <a:solidFill>
            <a:srgbClr val="EC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6255090" y="1750616"/>
            <a:ext cx="575990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src="profile.jpg" alt="John smiling"&gt;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4025" y="2105620"/>
            <a:ext cx="5412446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6. Associate labels with inputs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4025" y="2381548"/>
            <a:ext cx="5412446" cy="567928"/>
          </a:xfrm>
          <a:prstGeom prst="roundRect">
            <a:avLst>
              <a:gd name="adj" fmla="val 8081"/>
            </a:avLst>
          </a:prstGeom>
          <a:solidFill>
            <a:srgbClr val="ECECF2"/>
          </a:solidFill>
          <a:ln/>
        </p:spPr>
      </p:sp>
      <p:sp>
        <p:nvSpPr>
          <p:cNvPr id="22" name="Text 20"/>
          <p:cNvSpPr/>
          <p:nvPr/>
        </p:nvSpPr>
        <p:spPr>
          <a:xfrm>
            <a:off x="6255090" y="2490788"/>
            <a:ext cx="5150316" cy="34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for="email"&gt;Email&lt;/label&gt;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 id="email"&gt;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24025" y="3020516"/>
            <a:ext cx="5412446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7. Don't use HTML for styling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24025" y="3288506"/>
            <a:ext cx="6022031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Avoid: 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4025" y="3497461"/>
            <a:ext cx="5412446" cy="393204"/>
          </a:xfrm>
          <a:prstGeom prst="roundRect">
            <a:avLst>
              <a:gd name="adj" fmla="val 11672"/>
            </a:avLst>
          </a:prstGeom>
          <a:solidFill>
            <a:srgbClr val="ECECF2"/>
          </a:solidFill>
          <a:ln/>
        </p:spPr>
      </p:sp>
      <p:sp>
        <p:nvSpPr>
          <p:cNvPr id="26" name="Text 24"/>
          <p:cNvSpPr/>
          <p:nvPr/>
        </p:nvSpPr>
        <p:spPr>
          <a:xfrm>
            <a:off x="6255090" y="3606701"/>
            <a:ext cx="5759901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&lt;center&gt;Hello&lt;/center&gt;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24025" y="3961705"/>
            <a:ext cx="5412446" cy="27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HTML should primarily describe </a:t>
            </a:r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structure and meaning</a:t>
            </a:r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CSS should handle </a:t>
            </a:r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presentation and styling</a:t>
            </a:r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24025" y="4300637"/>
            <a:ext cx="5412446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8. Keep your code organized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24025" y="4568627"/>
            <a:ext cx="6022031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simple project might look like: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4025" y="4777581"/>
            <a:ext cx="5412446" cy="1441549"/>
          </a:xfrm>
          <a:prstGeom prst="roundRect">
            <a:avLst>
              <a:gd name="adj" fmla="val 3184"/>
            </a:avLst>
          </a:prstGeom>
          <a:solidFill>
            <a:srgbClr val="ECECF2"/>
          </a:solidFill>
          <a:ln/>
        </p:spPr>
      </p:sp>
      <p:sp>
        <p:nvSpPr>
          <p:cNvPr id="31" name="Text 29"/>
          <p:cNvSpPr/>
          <p:nvPr/>
        </p:nvSpPr>
        <p:spPr>
          <a:xfrm>
            <a:off x="6255090" y="4886821"/>
            <a:ext cx="5150316" cy="122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my-profile/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about.html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contact.html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images/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└── profile.jpg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316"/>
            <a:ext cx="10868745" cy="350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Slide 8 — Putting Everything Together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908645"/>
            <a:ext cx="10868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Build a Personal Profile Website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1215727"/>
            <a:ext cx="10868745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1526084"/>
            <a:ext cx="1147833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a </a:t>
            </a:r>
            <a:pPr algn="l" indent="0" marL="0"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Personal Profile Website</a:t>
            </a:r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using everything you've learned.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61475" y="1769070"/>
            <a:ext cx="10868745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Required pages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2079427"/>
            <a:ext cx="10868745" cy="1476673"/>
          </a:xfrm>
          <a:prstGeom prst="roundRect">
            <a:avLst>
              <a:gd name="adj" fmla="val 319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825" y="2085777"/>
            <a:ext cx="10856046" cy="14639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80237" y="2132013"/>
            <a:ext cx="3305985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Home Page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0237" y="2382341"/>
            <a:ext cx="391557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Include: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0237" y="2565301"/>
            <a:ext cx="3305985" cy="632123"/>
          </a:xfrm>
          <a:prstGeom prst="rect">
            <a:avLst/>
          </a:prstGeom>
          <a:noFill/>
          <a:ln/>
        </p:spPr>
        <p:txBody>
          <a:bodyPr wrap="square" lIns="0" tIns="44892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Your name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Welcome message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Navigation links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Short introduction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16999" y="2132013"/>
            <a:ext cx="3785894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About Page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6999" y="2382341"/>
            <a:ext cx="4395479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Include: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16999" y="2565301"/>
            <a:ext cx="3785894" cy="958155"/>
          </a:xfrm>
          <a:prstGeom prst="rect">
            <a:avLst/>
          </a:prstGeom>
          <a:noFill/>
          <a:ln/>
        </p:spPr>
        <p:txBody>
          <a:bodyPr wrap="square" lIns="0" tIns="44892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Profile image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Biography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Education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Hobbies/interests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Skills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Lists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333670" y="2132013"/>
            <a:ext cx="3077986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Contact Page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3670" y="2382341"/>
            <a:ext cx="3687571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Include: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33670" y="2565301"/>
            <a:ext cx="3077986" cy="958155"/>
          </a:xfrm>
          <a:prstGeom prst="rect">
            <a:avLst/>
          </a:prstGeom>
          <a:noFill/>
          <a:ln/>
        </p:spPr>
        <p:txBody>
          <a:bodyPr wrap="square" lIns="0" tIns="44892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Contact information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Contact form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Name field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Email field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Message field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Submit button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1475" y="3656013"/>
            <a:ext cx="10868745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Add a 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1475" y="3966369"/>
            <a:ext cx="1147833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Include at least </a:t>
            </a:r>
            <a:pPr algn="l" indent="0" marL="0"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5 rows and 5 columns</a:t>
            </a:r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1475" y="4209355"/>
            <a:ext cx="10868745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Requirements checklist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1475" y="4519712"/>
            <a:ext cx="10868745" cy="1806972"/>
          </a:xfrm>
          <a:prstGeom prst="rect">
            <a:avLst/>
          </a:prstGeom>
          <a:noFill/>
          <a:ln/>
        </p:spPr>
        <p:txBody>
          <a:bodyPr wrap="square" lIns="0" tIns="44892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Multiple HTML pages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Working navigation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Text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Images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Links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Lists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Table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Form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Semantic HTML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Accessible images/forms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Clean HTML structure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897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Slide 9 — Recap &amp; Practical Challenge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046361"/>
            <a:ext cx="10868745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Have We Learned?</a:t>
            </a:r>
            <a:endParaRPr lang="en-US" sz="2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46225"/>
            <a:ext cx="3554919" cy="23245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55642" y="1650305"/>
            <a:ext cx="166485" cy="208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9328" y="2101354"/>
            <a:ext cx="323921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Module 1 — Introduction to the Web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19328" y="2379365"/>
            <a:ext cx="3239213" cy="1333599"/>
          </a:xfrm>
          <a:prstGeom prst="rect">
            <a:avLst/>
          </a:prstGeom>
          <a:noFill/>
          <a:ln/>
        </p:spPr>
        <p:txBody>
          <a:bodyPr wrap="square" lIns="0" tIns="55524" rIns="0" bIns="0" rtlCol="0" anchor="t">
            <a:normAutofit/>
          </a:bodyPr>
          <a:lstStyle/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Internet vs Web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Browser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Client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Server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URL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HTTP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8289" y="1546225"/>
            <a:ext cx="3555018" cy="23245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12456" y="1650305"/>
            <a:ext cx="166485" cy="208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476142" y="2101354"/>
            <a:ext cx="3239312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Module 2 — HTML Document Structure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476142" y="2379365"/>
            <a:ext cx="3239312" cy="1105396"/>
          </a:xfrm>
          <a:prstGeom prst="rect">
            <a:avLst/>
          </a:prstGeom>
          <a:noFill/>
          <a:ln/>
        </p:spPr>
        <p:txBody>
          <a:bodyPr wrap="square" lIns="0" tIns="55524" rIns="0" bIns="0" rtlCol="0" anchor="t">
            <a:normAutofit/>
          </a:bodyPr>
          <a:lstStyle/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DOCTYPE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html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head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title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body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5202" y="1546225"/>
            <a:ext cx="3554919" cy="23245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69369" y="1650305"/>
            <a:ext cx="166485" cy="208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133055" y="2101354"/>
            <a:ext cx="323921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Module 3 — Text, Links, Images &amp; Lists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133055" y="2379365"/>
            <a:ext cx="3239213" cy="1105396"/>
          </a:xfrm>
          <a:prstGeom prst="rect">
            <a:avLst/>
          </a:prstGeom>
          <a:noFill/>
          <a:ln/>
        </p:spPr>
        <p:txBody>
          <a:bodyPr wrap="square" lIns="0" tIns="55524" rIns="0" bIns="0" rtlCol="0" anchor="t">
            <a:normAutofit/>
          </a:bodyPr>
          <a:lstStyle/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Headings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Paragraphs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Links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Images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Ordered/unordered lists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72719"/>
            <a:ext cx="3554919" cy="231328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355642" y="4076799"/>
            <a:ext cx="166485" cy="208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19328" y="4527848"/>
            <a:ext cx="323921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Module 4 — Tables &amp; Forms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19328" y="4805859"/>
            <a:ext cx="3239213" cy="1105396"/>
          </a:xfrm>
          <a:prstGeom prst="rect">
            <a:avLst/>
          </a:prstGeom>
          <a:noFill/>
          <a:ln/>
        </p:spPr>
        <p:txBody>
          <a:bodyPr wrap="square" lIns="0" tIns="55524" rIns="0" bIns="0" rtlCol="0" anchor="t">
            <a:normAutofit/>
          </a:bodyPr>
          <a:lstStyle/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Tables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Rows and cells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Form controls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Labels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input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18289" y="3972719"/>
            <a:ext cx="3555018" cy="231328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12456" y="4076799"/>
            <a:ext cx="166485" cy="208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476142" y="4527848"/>
            <a:ext cx="3239312" cy="433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Module 5 — Semantic HTML &amp; Accessibility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476142" y="5022751"/>
            <a:ext cx="3239312" cy="1105396"/>
          </a:xfrm>
          <a:prstGeom prst="rect">
            <a:avLst/>
          </a:prstGeom>
          <a:noFill/>
          <a:ln/>
        </p:spPr>
        <p:txBody>
          <a:bodyPr wrap="square" lIns="0" tIns="55524" rIns="0" bIns="0" rtlCol="0" anchor="t">
            <a:normAutofit/>
          </a:bodyPr>
          <a:lstStyle/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Semantic elements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Meaningful structure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Alt text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Form labels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Accessible links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75202" y="3972719"/>
            <a:ext cx="3554919" cy="231328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669369" y="4076799"/>
            <a:ext cx="166485" cy="208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133055" y="4527848"/>
            <a:ext cx="3239213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Module 6 — HTML Best Practices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8133055" y="4805859"/>
            <a:ext cx="3239213" cy="1105396"/>
          </a:xfrm>
          <a:prstGeom prst="rect">
            <a:avLst/>
          </a:prstGeom>
          <a:noFill/>
          <a:ln/>
        </p:spPr>
        <p:txBody>
          <a:bodyPr wrap="square" lIns="0" tIns="55524" rIns="0" bIns="0" rtlCol="0" anchor="t">
            <a:normAutofit/>
          </a:bodyPr>
          <a:lstStyle/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Clean structure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Proper indentation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Meaningful names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Maintainable code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Separation of structure and styling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4164"/>
            <a:ext cx="10868745" cy="516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Final Challenge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509117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Build your Personal Profile Website.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Before submitting, ask yourself: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643187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5" name="Text 3"/>
          <p:cNvSpPr/>
          <p:nvPr/>
        </p:nvSpPr>
        <p:spPr>
          <a:xfrm>
            <a:off x="944936" y="2539206"/>
            <a:ext cx="105852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Can a visitor navigate every page?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323630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7" name="Text 5"/>
          <p:cNvSpPr/>
          <p:nvPr/>
        </p:nvSpPr>
        <p:spPr>
          <a:xfrm>
            <a:off x="944936" y="3219648"/>
            <a:ext cx="105852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Can they learn who I am?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4004072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944936" y="3900091"/>
            <a:ext cx="105852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Can they see my image and information?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684514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11" name="Text 9"/>
          <p:cNvSpPr/>
          <p:nvPr/>
        </p:nvSpPr>
        <p:spPr>
          <a:xfrm>
            <a:off x="944936" y="4580533"/>
            <a:ext cx="105852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Can they view my data in a table?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5364956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944936" y="5260975"/>
            <a:ext cx="105852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Can they contact me using my form?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6045398"/>
            <a:ext cx="94454" cy="94456"/>
          </a:xfrm>
          <a:prstGeom prst="ellipse">
            <a:avLst/>
          </a:prstGeom>
          <a:solidFill>
            <a:srgbClr val="4967E9"/>
          </a:solidFill>
          <a:ln/>
        </p:spPr>
      </p:sp>
      <p:sp>
        <p:nvSpPr>
          <p:cNvPr id="15" name="Text 13"/>
          <p:cNvSpPr/>
          <p:nvPr/>
        </p:nvSpPr>
        <p:spPr>
          <a:xfrm>
            <a:off x="944936" y="5941417"/>
            <a:ext cx="105852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Is my HTML semantic, accessible and well organized?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2026-08-22T22:33:50Z</dcterms:created>
  <dcterms:modified xsi:type="dcterms:W3CDTF">2026-08-22T22:33:50Z</dcterms:modified>
</cp:coreProperties>
</file>